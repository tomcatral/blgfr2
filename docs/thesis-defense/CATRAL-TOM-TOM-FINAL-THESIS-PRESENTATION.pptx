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1" r:id="rId1"/>
  </p:sldMasterIdLst>
  <p:notesMasterIdLst>
    <p:notesMasterId r:id="rId21"/>
  </p:notesMasterIdLst>
  <p:handoutMasterIdLst>
    <p:handoutMasterId r:id="rId22"/>
  </p:handout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471054"/>
          </a:xfrm>
          <a:prstGeom prst="rect">
            <a:avLst/>
          </a:prstGeom>
        </p:spPr>
        <p:txBody>
          <a:bodyPr vert="horz" lIns="94217" tIns="47108" rIns="94217" bIns="47108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17" tIns="47108" rIns="94217" bIns="47108" rtlCol="0"/>
          <a:lstStyle>
            <a:lvl1pPr algn="r">
              <a:defRPr sz="1200"/>
            </a:lvl1pPr>
          </a:lstStyle>
          <a:p>
            <a:fld id="{0CF3CAAF-AA89-406E-B2C6-563134CC23DC}" type="datetimeFigureOut">
              <a:rPr lang="en-PH" smtClean="0"/>
              <a:t>15/10/2026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917422"/>
            <a:ext cx="3077739" cy="471053"/>
          </a:xfrm>
          <a:prstGeom prst="rect">
            <a:avLst/>
          </a:prstGeom>
        </p:spPr>
        <p:txBody>
          <a:bodyPr vert="horz" lIns="94217" tIns="47108" rIns="94217" bIns="47108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17" tIns="47108" rIns="94217" bIns="47108" rtlCol="0" anchor="b"/>
          <a:lstStyle>
            <a:lvl1pPr algn="r">
              <a:defRPr sz="1200"/>
            </a:lvl1pPr>
          </a:lstStyle>
          <a:p>
            <a:fld id="{29810365-36AC-438F-A1F3-3B536DF822E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88869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471054"/>
          </a:xfrm>
          <a:prstGeom prst="rect">
            <a:avLst/>
          </a:prstGeom>
        </p:spPr>
        <p:txBody>
          <a:bodyPr vert="horz" lIns="94217" tIns="47108" rIns="94217" bIns="47108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17" tIns="47108" rIns="94217" bIns="47108" rtlCol="0"/>
          <a:lstStyle>
            <a:lvl1pPr algn="r">
              <a:defRPr sz="1200"/>
            </a:lvl1pPr>
          </a:lstStyle>
          <a:p>
            <a:fld id="{4A17758D-285F-4EF1-8440-7B928EC4E9B0}" type="datetimeFigureOut">
              <a:rPr lang="en-PH" smtClean="0"/>
              <a:t>15/10/2026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7" tIns="47108" rIns="94217" bIns="47108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17" tIns="47108" rIns="94217" bIns="4710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917422"/>
            <a:ext cx="3077739" cy="471053"/>
          </a:xfrm>
          <a:prstGeom prst="rect">
            <a:avLst/>
          </a:prstGeom>
        </p:spPr>
        <p:txBody>
          <a:bodyPr vert="horz" lIns="94217" tIns="47108" rIns="94217" bIns="47108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17" tIns="47108" rIns="94217" bIns="47108" rtlCol="0" anchor="b"/>
          <a:lstStyle>
            <a:lvl1pPr algn="r">
              <a:defRPr sz="1200"/>
            </a:lvl1pPr>
          </a:lstStyle>
          <a:p>
            <a:fld id="{17519759-8B2E-4A8C-929C-071E47108C7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784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19759-8B2E-4A8C-929C-071E47108C77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6558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320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1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524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11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54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19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87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110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236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4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784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6498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048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86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730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2887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36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734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9736F9-CB82-107B-1432-9298B40EC5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839F7-8756-9B31-9A89-64DCC360479F}"/>
              </a:ext>
            </a:extLst>
          </p:cNvPr>
          <p:cNvSpPr txBox="1"/>
          <p:nvPr/>
        </p:nvSpPr>
        <p:spPr>
          <a:xfrm>
            <a:off x="1143000" y="1333500"/>
            <a:ext cx="9906000" cy="98488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2900" b="1">
                <a:solidFill>
                  <a:srgbClr val="F0C430"/>
                </a:solidFill>
                <a:latin typeface="Century Gothic" panose="020B0502020202020204" pitchFamily="34" charset="0"/>
              </a:rPr>
              <a:t>WEB-BASED DOCUMENT TRACKING AND MANAGEMENT PLATFORM</a:t>
            </a:r>
            <a:endParaRPr lang="en-PH" sz="2900" b="1">
              <a:solidFill>
                <a:srgbClr val="F0C43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C8A5F-898B-D312-A2C1-0CF29482A29F}"/>
              </a:ext>
            </a:extLst>
          </p:cNvPr>
          <p:cNvSpPr txBox="1"/>
          <p:nvPr/>
        </p:nvSpPr>
        <p:spPr>
          <a:xfrm>
            <a:off x="1651000" y="2730500"/>
            <a:ext cx="88900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1700">
                <a:solidFill>
                  <a:srgbClr val="FFFFFF"/>
                </a:solidFill>
                <a:latin typeface="Century Gothic" panose="020B0502020202020204" pitchFamily="34" charset="0"/>
              </a:rPr>
              <a:t>for Secure and Efficient Document Workflow Automation</a:t>
            </a:r>
            <a:endParaRPr lang="en-PH" sz="17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246E2-E29F-9605-2F0F-008718EC732B}"/>
              </a:ext>
            </a:extLst>
          </p:cNvPr>
          <p:cNvSpPr txBox="1"/>
          <p:nvPr/>
        </p:nvSpPr>
        <p:spPr>
          <a:xfrm>
            <a:off x="2921000" y="4000500"/>
            <a:ext cx="6350000" cy="33855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600" b="1">
                <a:solidFill>
                  <a:srgbClr val="DCDCDC"/>
                </a:solidFill>
                <a:latin typeface="Century Gothic" panose="020B0502020202020204" pitchFamily="34" charset="0"/>
              </a:rPr>
              <a:t>A THESIS FINAL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92F68-1419-9012-0803-D8898790A1EF}"/>
              </a:ext>
            </a:extLst>
          </p:cNvPr>
          <p:cNvSpPr txBox="1"/>
          <p:nvPr/>
        </p:nvSpPr>
        <p:spPr>
          <a:xfrm>
            <a:off x="3302000" y="4889500"/>
            <a:ext cx="5588000" cy="40011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2000" b="1">
                <a:solidFill>
                  <a:srgbClr val="FFFFFF"/>
                </a:solidFill>
                <a:latin typeface="Century Gothic" panose="020B0502020202020204" pitchFamily="34" charset="0"/>
              </a:rPr>
              <a:t>TOM TOM G. CATRAL</a:t>
            </a:r>
          </a:p>
        </p:txBody>
      </p:sp>
    </p:spTree>
    <p:extLst>
      <p:ext uri="{BB962C8B-B14F-4D97-AF65-F5344CB8AC3E}">
        <p14:creationId xmlns:p14="http://schemas.microsoft.com/office/powerpoint/2010/main" val="773417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1F3564-13D0-A9B5-ED01-0E7A38DD4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DCE92D-807C-D934-4FC3-D60445D7DCDD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STATEMENT OF THE PROBLEM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C51344-2CAC-C643-A256-A56F12AFEC01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52B51-B9C5-B33A-93C0-F17E27DEE2DB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Why the system was developed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E81C80-6EDE-9A2A-EDAD-59209D345BBA}"/>
              </a:ext>
            </a:extLst>
          </p:cNvPr>
          <p:cNvSpPr/>
          <p:nvPr/>
        </p:nvSpPr>
        <p:spPr>
          <a:xfrm>
            <a:off x="698500" y="1587500"/>
            <a:ext cx="3302000" cy="2095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8AEB4-89ED-51C4-F165-CDBCC4F10D1E}"/>
              </a:ext>
            </a:extLst>
          </p:cNvPr>
          <p:cNvSpPr txBox="1"/>
          <p:nvPr/>
        </p:nvSpPr>
        <p:spPr>
          <a:xfrm>
            <a:off x="850900" y="1714500"/>
            <a:ext cx="2997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MANUAL ROUTING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F59E6-E680-CD17-80E4-2E6BD4482CB5}"/>
              </a:ext>
            </a:extLst>
          </p:cNvPr>
          <p:cNvSpPr txBox="1"/>
          <p:nvPr/>
        </p:nvSpPr>
        <p:spPr>
          <a:xfrm>
            <a:off x="850900" y="2146300"/>
            <a:ext cx="2997200" cy="89255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Physical delivery and handwritten tracking make status monitoring slow and dependent on personnel availability.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46E03F-673D-4E62-A3E5-595B0609F189}"/>
              </a:ext>
            </a:extLst>
          </p:cNvPr>
          <p:cNvSpPr/>
          <p:nvPr/>
        </p:nvSpPr>
        <p:spPr>
          <a:xfrm>
            <a:off x="4445000" y="1587500"/>
            <a:ext cx="3302000" cy="2095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A91E3-48F2-AE71-3DEC-21351806B66D}"/>
              </a:ext>
            </a:extLst>
          </p:cNvPr>
          <p:cNvSpPr txBox="1"/>
          <p:nvPr/>
        </p:nvSpPr>
        <p:spPr>
          <a:xfrm>
            <a:off x="4597400" y="1714500"/>
            <a:ext cx="2997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LIMITED VISIBILITY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803B0A-EAE2-7F7D-FAA0-A5352808489E}"/>
              </a:ext>
            </a:extLst>
          </p:cNvPr>
          <p:cNvSpPr txBox="1"/>
          <p:nvPr/>
        </p:nvSpPr>
        <p:spPr>
          <a:xfrm>
            <a:off x="4597400" y="2146300"/>
            <a:ext cx="2997200" cy="89255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Users cannot consistently see the current holder, pending action, route history, or document status in real time.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7D8C850-E182-D8A4-3F06-EEDF451B7551}"/>
              </a:ext>
            </a:extLst>
          </p:cNvPr>
          <p:cNvSpPr/>
          <p:nvPr/>
        </p:nvSpPr>
        <p:spPr>
          <a:xfrm>
            <a:off x="8191500" y="1587500"/>
            <a:ext cx="3302000" cy="2095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B9E7CE-4D88-1BE7-71E7-E9A054B0C67F}"/>
              </a:ext>
            </a:extLst>
          </p:cNvPr>
          <p:cNvSpPr txBox="1"/>
          <p:nvPr/>
        </p:nvSpPr>
        <p:spPr>
          <a:xfrm>
            <a:off x="8343900" y="1714500"/>
            <a:ext cx="2997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RECORD RISKS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ADFF75-07E1-B67C-8FA9-1A63BAAA1E81}"/>
              </a:ext>
            </a:extLst>
          </p:cNvPr>
          <p:cNvSpPr txBox="1"/>
          <p:nvPr/>
        </p:nvSpPr>
        <p:spPr>
          <a:xfrm>
            <a:off x="8343900" y="2146300"/>
            <a:ext cx="2997200" cy="89255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Paper files and disconnected logs increase the risk of delays, misplacement, duplicate entries, and incomplete accountability.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FD5BA9-C536-3DFD-6EEF-D184704A8983}"/>
              </a:ext>
            </a:extLst>
          </p:cNvPr>
          <p:cNvSpPr txBox="1"/>
          <p:nvPr/>
        </p:nvSpPr>
        <p:spPr>
          <a:xfrm>
            <a:off x="1143000" y="4508500"/>
            <a:ext cx="9906000" cy="70788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2000" b="1">
                <a:solidFill>
                  <a:srgbClr val="F0C430"/>
                </a:solidFill>
                <a:latin typeface="Century Gothic" panose="020B0502020202020204" pitchFamily="34" charset="0"/>
              </a:rPr>
              <a:t>Core research question: How can BLGF Region II improve the security and efficiency of its document workflow through a web-based platform?</a:t>
            </a:r>
            <a:endParaRPr lang="en-PH" sz="2000" b="1">
              <a:solidFill>
                <a:srgbClr val="F0C43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41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42D4D09-870F-40BA-FD88-9F6AFE97B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A7D824-C34F-EE3B-1EAB-7CDEE21C28FA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OBJECTIVES OF THE STUDY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25C3E-7787-B9F5-27C9-E64F9ACDCC2E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376CC0-75EB-F1A4-A75C-DE5EAA743EBE}"/>
              </a:ext>
            </a:extLst>
          </p:cNvPr>
          <p:cNvSpPr/>
          <p:nvPr/>
        </p:nvSpPr>
        <p:spPr>
          <a:xfrm>
            <a:off x="698500" y="1524000"/>
            <a:ext cx="10795000" cy="1206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057F72-9413-0FDD-1A83-D7607AD10015}"/>
              </a:ext>
            </a:extLst>
          </p:cNvPr>
          <p:cNvSpPr txBox="1"/>
          <p:nvPr/>
        </p:nvSpPr>
        <p:spPr>
          <a:xfrm>
            <a:off x="850900" y="1651000"/>
            <a:ext cx="10490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GENERAL OBJECTIVE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D3735-A102-AA05-E065-455670BE0F7E}"/>
              </a:ext>
            </a:extLst>
          </p:cNvPr>
          <p:cNvSpPr txBox="1"/>
          <p:nvPr/>
        </p:nvSpPr>
        <p:spPr>
          <a:xfrm>
            <a:off x="850900" y="2082800"/>
            <a:ext cx="10490200" cy="4924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Develop and evaluate a Web-Based Document Tracking and Management Platform for secure and efficient document workflow automation at BLGF Region II.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3743EA-BB04-8AE9-E13B-EF9F72885ACB}"/>
              </a:ext>
            </a:extLst>
          </p:cNvPr>
          <p:cNvSpPr txBox="1"/>
          <p:nvPr/>
        </p:nvSpPr>
        <p:spPr>
          <a:xfrm>
            <a:off x="952500" y="3111500"/>
            <a:ext cx="10287000" cy="14003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GB" sz="1700">
                <a:solidFill>
                  <a:srgbClr val="FFFFFF"/>
                </a:solidFill>
                <a:latin typeface="Century Gothic" panose="020B0502020202020204" pitchFamily="34" charset="0"/>
              </a:rPr>
              <a:t>•  Document the problems encountered in the existing manual process.</a:t>
            </a:r>
          </a:p>
          <a:p>
            <a:pPr>
              <a:spcAft>
                <a:spcPts val="900"/>
              </a:spcAft>
            </a:pPr>
            <a:r>
              <a:rPr lang="en-GB" sz="1700">
                <a:solidFill>
                  <a:srgbClr val="FFFFFF"/>
                </a:solidFill>
                <a:latin typeface="Century Gothic" panose="020B0502020202020204" pitchFamily="34" charset="0"/>
              </a:rPr>
              <a:t>•  Design and implement registration, routing, tracking, search, notifications, reporting, and audit functions.</a:t>
            </a:r>
          </a:p>
          <a:p>
            <a:pPr>
              <a:spcAft>
                <a:spcPts val="900"/>
              </a:spcAft>
            </a:pPr>
            <a:r>
              <a:rPr lang="en-GB" sz="1700">
                <a:solidFill>
                  <a:srgbClr val="FFFFFF"/>
                </a:solidFill>
                <a:latin typeface="Century Gothic" panose="020B0502020202020204" pitchFamily="34" charset="0"/>
              </a:rPr>
              <a:t>•  Evaluate the developed system using the eight ISO/IEC 25010 product-quality characteristics.</a:t>
            </a:r>
          </a:p>
          <a:p>
            <a:pPr>
              <a:spcAft>
                <a:spcPts val="900"/>
              </a:spcAft>
            </a:pPr>
            <a:r>
              <a:rPr lang="en-GB" sz="1700">
                <a:solidFill>
                  <a:srgbClr val="FFFFFF"/>
                </a:solidFill>
                <a:latin typeface="Century Gothic" panose="020B0502020202020204" pitchFamily="34" charset="0"/>
              </a:rPr>
              <a:t>•  Provide conclusions and recommendations based on actual evaluation results.</a:t>
            </a:r>
            <a:endParaRPr lang="en-PH" sz="17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966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EE7830-5AF8-81BA-214A-C91D86BA6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D4989-E6C2-995E-7453-75183598DBBD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SCOPE AND DELIMITATION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17D9B-0E6B-E720-FA22-84E18A79D921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0F268A-3410-CA7B-CA95-D5FF903A9E09}"/>
              </a:ext>
            </a:extLst>
          </p:cNvPr>
          <p:cNvSpPr/>
          <p:nvPr/>
        </p:nvSpPr>
        <p:spPr>
          <a:xfrm>
            <a:off x="698500" y="1587500"/>
            <a:ext cx="5143500" cy="38100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EE145B-531A-D592-F0E1-34ABD90A61D4}"/>
              </a:ext>
            </a:extLst>
          </p:cNvPr>
          <p:cNvSpPr txBox="1"/>
          <p:nvPr/>
        </p:nvSpPr>
        <p:spPr>
          <a:xfrm>
            <a:off x="850900" y="1714500"/>
            <a:ext cx="4838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IN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F8E7C-59FD-1759-D7DE-E7FEFE7DC54F}"/>
              </a:ext>
            </a:extLst>
          </p:cNvPr>
          <p:cNvSpPr txBox="1"/>
          <p:nvPr/>
        </p:nvSpPr>
        <p:spPr>
          <a:xfrm>
            <a:off x="850900" y="2146300"/>
            <a:ext cx="4838700" cy="12926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Incoming and outgoing documents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Real-time routing and status tracking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Role and permission controls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Attachments and recipient conversations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Search, notifications, QR, slips and reports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Audit and envelope dispatch logs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E617F2-47B3-0A61-C34D-996909654972}"/>
              </a:ext>
            </a:extLst>
          </p:cNvPr>
          <p:cNvSpPr/>
          <p:nvPr/>
        </p:nvSpPr>
        <p:spPr>
          <a:xfrm>
            <a:off x="6350000" y="1587500"/>
            <a:ext cx="5143500" cy="38100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E305C4-D329-CAD4-12A4-8FAAA023205F}"/>
              </a:ext>
            </a:extLst>
          </p:cNvPr>
          <p:cNvSpPr txBox="1"/>
          <p:nvPr/>
        </p:nvSpPr>
        <p:spPr>
          <a:xfrm>
            <a:off x="6502400" y="1714500"/>
            <a:ext cx="4838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DELIMITATIONS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80F1B8-F8DE-427D-99FD-72E25C33029A}"/>
              </a:ext>
            </a:extLst>
          </p:cNvPr>
          <p:cNvSpPr txBox="1"/>
          <p:nvPr/>
        </p:nvSpPr>
        <p:spPr>
          <a:xfrm>
            <a:off x="6502400" y="2146300"/>
            <a:ext cx="4838700" cy="12926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Designed for BLGF Region II workflows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Authorized users and supported web environment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Evaluation based on 23 respondents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27 indicators under ISO/IEC 25010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Deployment and policies remain subject to agency approval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07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76E895-5CC3-349D-F12B-FD5596A2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04078-114D-AF84-33E1-6FFCADE416FB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RESEARCH METHODOLOGY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73C94F-E3F8-80EA-45E0-779E21B59624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438D1D-C6B6-3E10-9242-3FE16C39C30F}"/>
              </a:ext>
            </a:extLst>
          </p:cNvPr>
          <p:cNvSpPr/>
          <p:nvPr/>
        </p:nvSpPr>
        <p:spPr>
          <a:xfrm>
            <a:off x="698500" y="1587500"/>
            <a:ext cx="3429000" cy="2603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FCC538-1463-57B4-75EB-5A89BD86AF59}"/>
              </a:ext>
            </a:extLst>
          </p:cNvPr>
          <p:cNvSpPr txBox="1"/>
          <p:nvPr/>
        </p:nvSpPr>
        <p:spPr>
          <a:xfrm>
            <a:off x="850900" y="1714500"/>
            <a:ext cx="3124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B3695-E75F-06DC-A9DB-89CE3765E9D5}"/>
              </a:ext>
            </a:extLst>
          </p:cNvPr>
          <p:cNvSpPr txBox="1"/>
          <p:nvPr/>
        </p:nvSpPr>
        <p:spPr>
          <a:xfrm>
            <a:off x="850900" y="2146300"/>
            <a:ext cx="3124200" cy="10926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Descriptive research identified workflow problems; developmental research guided the design, construction, testing, and evaluation of the WDTMP.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B5B1488-7B1B-ADFA-4BFE-DDDD470C9B76}"/>
              </a:ext>
            </a:extLst>
          </p:cNvPr>
          <p:cNvSpPr/>
          <p:nvPr/>
        </p:nvSpPr>
        <p:spPr>
          <a:xfrm>
            <a:off x="4381500" y="1587500"/>
            <a:ext cx="3429000" cy="2603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A9690-D4A5-980E-30A0-4FE46CA4912A}"/>
              </a:ext>
            </a:extLst>
          </p:cNvPr>
          <p:cNvSpPr txBox="1"/>
          <p:nvPr/>
        </p:nvSpPr>
        <p:spPr>
          <a:xfrm>
            <a:off x="4533900" y="1714500"/>
            <a:ext cx="3124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PARTICIPANTS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A3EFC8-0EFB-7329-472D-D474AAC9843B}"/>
              </a:ext>
            </a:extLst>
          </p:cNvPr>
          <p:cNvSpPr txBox="1"/>
          <p:nvPr/>
        </p:nvSpPr>
        <p:spPr>
          <a:xfrm>
            <a:off x="4533900" y="2146300"/>
            <a:ext cx="3124200" cy="69249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23 evaluators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13 BLGF employees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10 IT experts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1A3327-DF1A-0B45-2923-DADE13037E93}"/>
              </a:ext>
            </a:extLst>
          </p:cNvPr>
          <p:cNvSpPr/>
          <p:nvPr/>
        </p:nvSpPr>
        <p:spPr>
          <a:xfrm>
            <a:off x="8064500" y="1587500"/>
            <a:ext cx="3429000" cy="2603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B7B6C9-8D2D-1421-FBE6-6703CD1A31DC}"/>
              </a:ext>
            </a:extLst>
          </p:cNvPr>
          <p:cNvSpPr txBox="1"/>
          <p:nvPr/>
        </p:nvSpPr>
        <p:spPr>
          <a:xfrm>
            <a:off x="8216900" y="1714500"/>
            <a:ext cx="3124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INSTRUMENT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F06F36-7E61-A2BD-3C71-E31370DB0F0C}"/>
              </a:ext>
            </a:extLst>
          </p:cNvPr>
          <p:cNvSpPr txBox="1"/>
          <p:nvPr/>
        </p:nvSpPr>
        <p:spPr>
          <a:xfrm>
            <a:off x="8216900" y="2146300"/>
            <a:ext cx="3124200" cy="10926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A 27-indicator questionnaire covering all eight ISO/IEC 25010 product-quality characteristics, rated through a five-point Likert scale.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A9D63D-83E8-FEE5-5942-BF38CEB54DFA}"/>
              </a:ext>
            </a:extLst>
          </p:cNvPr>
          <p:cNvSpPr txBox="1"/>
          <p:nvPr/>
        </p:nvSpPr>
        <p:spPr>
          <a:xfrm>
            <a:off x="1016000" y="4699000"/>
            <a:ext cx="101600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1700" b="1">
                <a:solidFill>
                  <a:srgbClr val="F0C430"/>
                </a:solidFill>
                <a:latin typeface="Century Gothic" panose="020B0502020202020204" pitchFamily="34" charset="0"/>
              </a:rPr>
              <a:t>Data analysis: weighted means per indicator and category; 4.21-5.00 = Very Great Extent.</a:t>
            </a:r>
            <a:endParaRPr lang="en-PH" sz="1700" b="1">
              <a:solidFill>
                <a:srgbClr val="F0C43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61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B716C1-E5FE-2A3F-57A3-3F91EF7A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315BD-857A-BF7E-AEC6-6544D436B40B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DEVELOPMENT APPROACH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A0652-3AA7-F847-4CFD-D60884A21220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3293B0-1AFF-7770-2A1F-77084E39B5CF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Iterative Agile / controlled overlapping phases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B3B4CF-769E-5BDB-D075-224B6BF82BD2}"/>
              </a:ext>
            </a:extLst>
          </p:cNvPr>
          <p:cNvSpPr/>
          <p:nvPr/>
        </p:nvSpPr>
        <p:spPr>
          <a:xfrm>
            <a:off x="660400" y="2286000"/>
            <a:ext cx="1651000" cy="952500"/>
          </a:xfrm>
          <a:prstGeom prst="roundRect">
            <a:avLst/>
          </a:prstGeom>
          <a:solidFill>
            <a:srgbClr val="2D2D2D"/>
          </a:solidFill>
          <a:ln>
            <a:solidFill>
              <a:srgbClr val="F0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0AA24B-7633-165B-A1A5-1C5785A06409}"/>
              </a:ext>
            </a:extLst>
          </p:cNvPr>
          <p:cNvSpPr txBox="1"/>
          <p:nvPr/>
        </p:nvSpPr>
        <p:spPr>
          <a:xfrm>
            <a:off x="723900" y="2565400"/>
            <a:ext cx="1524000" cy="30777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Century Gothic" panose="020B0502020202020204" pitchFamily="34" charset="0"/>
              </a:rPr>
              <a:t>Requirements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0884E-FBA9-616C-EA6C-1F0A3E4AE6C9}"/>
              </a:ext>
            </a:extLst>
          </p:cNvPr>
          <p:cNvSpPr txBox="1"/>
          <p:nvPr/>
        </p:nvSpPr>
        <p:spPr>
          <a:xfrm>
            <a:off x="2311400" y="2514600"/>
            <a:ext cx="3175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2400" b="1">
                <a:solidFill>
                  <a:srgbClr val="F0C430"/>
                </a:solidFill>
                <a:latin typeface="Century Gothic" panose="020B0502020202020204" pitchFamily="34" charset="0"/>
              </a:rPr>
              <a:t>&gt;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D984EA-9CCC-1D8B-0ABB-4E8BC8D70B69}"/>
              </a:ext>
            </a:extLst>
          </p:cNvPr>
          <p:cNvSpPr/>
          <p:nvPr/>
        </p:nvSpPr>
        <p:spPr>
          <a:xfrm>
            <a:off x="2501900" y="2286000"/>
            <a:ext cx="1651000" cy="952500"/>
          </a:xfrm>
          <a:prstGeom prst="roundRect">
            <a:avLst/>
          </a:prstGeom>
          <a:solidFill>
            <a:srgbClr val="2D2D2D"/>
          </a:solidFill>
          <a:ln>
            <a:solidFill>
              <a:srgbClr val="F0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F6E3F8-0D37-FBEF-96B9-5B935025DC6F}"/>
              </a:ext>
            </a:extLst>
          </p:cNvPr>
          <p:cNvSpPr txBox="1"/>
          <p:nvPr/>
        </p:nvSpPr>
        <p:spPr>
          <a:xfrm>
            <a:off x="2565400" y="2565400"/>
            <a:ext cx="1524000" cy="30777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Century Gothic" panose="020B0502020202020204" pitchFamily="34" charset="0"/>
              </a:rPr>
              <a:t>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4B012B-624F-A7DC-EE37-C5675BD3A1F4}"/>
              </a:ext>
            </a:extLst>
          </p:cNvPr>
          <p:cNvSpPr txBox="1"/>
          <p:nvPr/>
        </p:nvSpPr>
        <p:spPr>
          <a:xfrm>
            <a:off x="4152900" y="2514600"/>
            <a:ext cx="3175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2400" b="1">
                <a:solidFill>
                  <a:srgbClr val="F0C430"/>
                </a:solidFill>
                <a:latin typeface="Century Gothic" panose="020B0502020202020204" pitchFamily="34" charset="0"/>
              </a:rPr>
              <a:t>&gt;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EE5236-037A-0FA5-5B4F-BC6281EBC8BE}"/>
              </a:ext>
            </a:extLst>
          </p:cNvPr>
          <p:cNvSpPr/>
          <p:nvPr/>
        </p:nvSpPr>
        <p:spPr>
          <a:xfrm>
            <a:off x="4343400" y="2286000"/>
            <a:ext cx="1651000" cy="952500"/>
          </a:xfrm>
          <a:prstGeom prst="roundRect">
            <a:avLst/>
          </a:prstGeom>
          <a:solidFill>
            <a:srgbClr val="2D2D2D"/>
          </a:solidFill>
          <a:ln>
            <a:solidFill>
              <a:srgbClr val="F0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A1E7-12B4-3CC0-C54F-3D4F5C5434BA}"/>
              </a:ext>
            </a:extLst>
          </p:cNvPr>
          <p:cNvSpPr txBox="1"/>
          <p:nvPr/>
        </p:nvSpPr>
        <p:spPr>
          <a:xfrm>
            <a:off x="4406900" y="2565400"/>
            <a:ext cx="1524000" cy="30777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Century Gothic" panose="020B0502020202020204" pitchFamily="34" charset="0"/>
              </a:rPr>
              <a:t>Development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2D9B84-2517-0A75-EE20-3EB030A3EC0D}"/>
              </a:ext>
            </a:extLst>
          </p:cNvPr>
          <p:cNvSpPr txBox="1"/>
          <p:nvPr/>
        </p:nvSpPr>
        <p:spPr>
          <a:xfrm>
            <a:off x="5994400" y="2514600"/>
            <a:ext cx="3175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2400" b="1">
                <a:solidFill>
                  <a:srgbClr val="F0C430"/>
                </a:solidFill>
                <a:latin typeface="Century Gothic" panose="020B0502020202020204" pitchFamily="34" charset="0"/>
              </a:rPr>
              <a:t>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37855B-C4C4-762E-B2D3-5E4939C2652F}"/>
              </a:ext>
            </a:extLst>
          </p:cNvPr>
          <p:cNvSpPr/>
          <p:nvPr/>
        </p:nvSpPr>
        <p:spPr>
          <a:xfrm>
            <a:off x="6184900" y="2286000"/>
            <a:ext cx="1651000" cy="952500"/>
          </a:xfrm>
          <a:prstGeom prst="roundRect">
            <a:avLst/>
          </a:prstGeom>
          <a:solidFill>
            <a:srgbClr val="2D2D2D"/>
          </a:solidFill>
          <a:ln>
            <a:solidFill>
              <a:srgbClr val="F0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980BDE-C097-3247-D3B7-84DF4B788578}"/>
              </a:ext>
            </a:extLst>
          </p:cNvPr>
          <p:cNvSpPr txBox="1"/>
          <p:nvPr/>
        </p:nvSpPr>
        <p:spPr>
          <a:xfrm>
            <a:off x="6248400" y="2565400"/>
            <a:ext cx="1524000" cy="30777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Century Gothic" panose="020B0502020202020204" pitchFamily="34" charset="0"/>
              </a:rPr>
              <a:t>Testing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686DF3-A7F6-1D8F-1E78-E794BF8FEFB5}"/>
              </a:ext>
            </a:extLst>
          </p:cNvPr>
          <p:cNvSpPr txBox="1"/>
          <p:nvPr/>
        </p:nvSpPr>
        <p:spPr>
          <a:xfrm>
            <a:off x="7835900" y="2514600"/>
            <a:ext cx="3175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2400" b="1">
                <a:solidFill>
                  <a:srgbClr val="F0C430"/>
                </a:solidFill>
                <a:latin typeface="Century Gothic" panose="020B0502020202020204" pitchFamily="34" charset="0"/>
              </a:rPr>
              <a:t>&gt;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3B8246E-6B1B-1BDC-2DE2-67A06B08A294}"/>
              </a:ext>
            </a:extLst>
          </p:cNvPr>
          <p:cNvSpPr/>
          <p:nvPr/>
        </p:nvSpPr>
        <p:spPr>
          <a:xfrm>
            <a:off x="8026400" y="2286000"/>
            <a:ext cx="1651000" cy="952500"/>
          </a:xfrm>
          <a:prstGeom prst="roundRect">
            <a:avLst/>
          </a:prstGeom>
          <a:solidFill>
            <a:srgbClr val="2D2D2D"/>
          </a:solidFill>
          <a:ln>
            <a:solidFill>
              <a:srgbClr val="F0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E5596C-0E59-6E30-75E3-B0A029AE3452}"/>
              </a:ext>
            </a:extLst>
          </p:cNvPr>
          <p:cNvSpPr txBox="1"/>
          <p:nvPr/>
        </p:nvSpPr>
        <p:spPr>
          <a:xfrm>
            <a:off x="8089900" y="2565400"/>
            <a:ext cx="1524000" cy="30777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Century Gothic" panose="020B0502020202020204" pitchFamily="34" charset="0"/>
              </a:rPr>
              <a:t>Deployment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61D32E-39F7-F30C-EC42-851839A59F61}"/>
              </a:ext>
            </a:extLst>
          </p:cNvPr>
          <p:cNvSpPr txBox="1"/>
          <p:nvPr/>
        </p:nvSpPr>
        <p:spPr>
          <a:xfrm>
            <a:off x="9677400" y="2514600"/>
            <a:ext cx="3175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2400" b="1">
                <a:solidFill>
                  <a:srgbClr val="F0C430"/>
                </a:solidFill>
                <a:latin typeface="Century Gothic" panose="020B0502020202020204" pitchFamily="34" charset="0"/>
              </a:rPr>
              <a:t>&gt;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14F0669-380D-A7F6-257C-BFB81EAC4FF8}"/>
              </a:ext>
            </a:extLst>
          </p:cNvPr>
          <p:cNvSpPr/>
          <p:nvPr/>
        </p:nvSpPr>
        <p:spPr>
          <a:xfrm>
            <a:off x="9867900" y="2286000"/>
            <a:ext cx="1651000" cy="952500"/>
          </a:xfrm>
          <a:prstGeom prst="roundRect">
            <a:avLst/>
          </a:prstGeom>
          <a:solidFill>
            <a:srgbClr val="2D2D2D"/>
          </a:solidFill>
          <a:ln>
            <a:solidFill>
              <a:srgbClr val="F0C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6258EB-EF96-70A7-214A-6D75E06D34CE}"/>
              </a:ext>
            </a:extLst>
          </p:cNvPr>
          <p:cNvSpPr txBox="1"/>
          <p:nvPr/>
        </p:nvSpPr>
        <p:spPr>
          <a:xfrm>
            <a:off x="9931400" y="2565400"/>
            <a:ext cx="1524000" cy="30777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400" b="1">
                <a:solidFill>
                  <a:srgbClr val="FFFFFF"/>
                </a:solidFill>
                <a:latin typeface="Century Gothic" panose="020B0502020202020204" pitchFamily="34" charset="0"/>
              </a:rPr>
              <a:t>Evaluation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0F502-3F52-7688-527E-FF538733601F}"/>
              </a:ext>
            </a:extLst>
          </p:cNvPr>
          <p:cNvSpPr txBox="1"/>
          <p:nvPr/>
        </p:nvSpPr>
        <p:spPr>
          <a:xfrm>
            <a:off x="11518900" y="2514600"/>
            <a:ext cx="317500" cy="46166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2400" b="1">
                <a:solidFill>
                  <a:srgbClr val="F0C430"/>
                </a:solidFill>
                <a:latin typeface="Century Gothic" panose="020B0502020202020204" pitchFamily="34" charset="0"/>
              </a:rPr>
              <a:t>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F92C29-2ABE-2715-56F1-4814FC6C0B80}"/>
              </a:ext>
            </a:extLst>
          </p:cNvPr>
          <p:cNvSpPr txBox="1"/>
          <p:nvPr/>
        </p:nvSpPr>
        <p:spPr>
          <a:xfrm>
            <a:off x="1397000" y="4064000"/>
            <a:ext cx="9398000" cy="64633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Feedback was used to refine routing, permissions, attachments, notifications, reports, and usability before succeeding increments.</a:t>
            </a:r>
            <a:endParaRPr lang="en-PH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24FA04-E81D-3764-FE2D-CD5EA45A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68F21-8B45-995A-03B9-B3D4737A0C1E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SYSTEM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17C432-0079-D89C-185D-31309755EE67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EB4D5-48B2-5475-F28E-A0856A637E56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Presentation, application, and data tiers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EAB2D0-36A0-4D77-AE22-2FEAF6FFB1E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498600"/>
            <a:ext cx="10160000" cy="41910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8BA343-8F9E-90FD-57C8-7A8917B2C40E}"/>
              </a:ext>
            </a:extLst>
          </p:cNvPr>
          <p:cNvSpPr txBox="1"/>
          <p:nvPr/>
        </p:nvSpPr>
        <p:spPr>
          <a:xfrm>
            <a:off x="1016000" y="5727700"/>
            <a:ext cx="101600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1000">
                <a:solidFill>
                  <a:srgbClr val="DCDCDC"/>
                </a:solidFill>
                <a:latin typeface="Century Gothic" panose="020B0502020202020204" pitchFamily="34" charset="0"/>
              </a:rPr>
              <a:t>Figure 2. Multi-tier architecture of the WDTMP</a:t>
            </a:r>
            <a:endParaRPr lang="en-PH" sz="10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00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ECA6E5-0653-2338-1C71-7ACB9B38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972AE5-48E3-B3EB-445B-1E7ED4FCA333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CONTEXT-LEVEL DATA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E6DD82-2531-AA93-A3F0-3E04797556F1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83CF8-1403-A207-9253-835B0C9D8C0C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System boundary and external information exchanges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345D09-FD00-3327-036F-7DD660E5D39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422400"/>
            <a:ext cx="8763000" cy="49276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ADBB72-5C25-C78E-29A0-01115B2AC54A}"/>
              </a:ext>
            </a:extLst>
          </p:cNvPr>
          <p:cNvSpPr txBox="1"/>
          <p:nvPr/>
        </p:nvSpPr>
        <p:spPr>
          <a:xfrm>
            <a:off x="1714500" y="6388100"/>
            <a:ext cx="87630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1000">
                <a:solidFill>
                  <a:srgbClr val="DCDCDC"/>
                </a:solidFill>
                <a:latin typeface="Century Gothic" panose="020B0502020202020204" pitchFamily="34" charset="0"/>
              </a:rPr>
              <a:t>Figure 4. Context-Level Data Flow Diagram</a:t>
            </a:r>
            <a:endParaRPr lang="en-PH" sz="10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04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010FAE-244B-1BC5-933F-FF33801B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3157DC-275C-C3C6-6D11-8C962B1D4A03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ACTORS AND CORE WORKFLOW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DCA14D-10D2-0BA4-1C28-1C2A61367701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FA9F70-AD1D-9C7E-A899-C9A6699FBCD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524000"/>
            <a:ext cx="6794500" cy="44450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A811F5-A965-599D-CD5C-275608F40CF6}"/>
              </a:ext>
            </a:extLst>
          </p:cNvPr>
          <p:cNvSpPr txBox="1"/>
          <p:nvPr/>
        </p:nvSpPr>
        <p:spPr>
          <a:xfrm>
            <a:off x="635000" y="6007100"/>
            <a:ext cx="67945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000">
                <a:solidFill>
                  <a:srgbClr val="DCDCDC"/>
                </a:solidFill>
                <a:latin typeface="Century Gothic" panose="020B0502020202020204" pitchFamily="34" charset="0"/>
              </a:rPr>
              <a:t>Implemented use-case diagram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4FE98E-7D56-23AA-75AA-C5AA36ADFE41}"/>
              </a:ext>
            </a:extLst>
          </p:cNvPr>
          <p:cNvSpPr txBox="1"/>
          <p:nvPr/>
        </p:nvSpPr>
        <p:spPr>
          <a:xfrm>
            <a:off x="7747000" y="1714500"/>
            <a:ext cx="3810000" cy="203132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GB" sz="1400">
                <a:solidFill>
                  <a:srgbClr val="FFFFFF"/>
                </a:solidFill>
                <a:latin typeface="Century Gothic" panose="020B0502020202020204" pitchFamily="34" charset="0"/>
              </a:rPr>
              <a:t>•  System Administrator: accounts, permissions, settings, reports and logs</a:t>
            </a:r>
          </a:p>
          <a:p>
            <a:pPr>
              <a:spcAft>
                <a:spcPts val="900"/>
              </a:spcAft>
            </a:pPr>
            <a:r>
              <a:rPr lang="en-GB" sz="1400">
                <a:solidFill>
                  <a:srgbClr val="FFFFFF"/>
                </a:solidFill>
                <a:latin typeface="Century Gothic" panose="020B0502020202020204" pitchFamily="34" charset="0"/>
              </a:rPr>
              <a:t>•  Records/Originating User: registers and initiates document routes</a:t>
            </a:r>
          </a:p>
          <a:p>
            <a:pPr>
              <a:spcAft>
                <a:spcPts val="900"/>
              </a:spcAft>
            </a:pPr>
            <a:r>
              <a:rPr lang="en-GB" sz="1400">
                <a:solidFill>
                  <a:srgbClr val="FFFFFF"/>
                </a:solidFill>
                <a:latin typeface="Century Gothic" panose="020B0502020202020204" pitchFamily="34" charset="0"/>
              </a:rPr>
              <a:t>•  Recipient/Authorized User: receives, acts, replies, attaches and completes</a:t>
            </a:r>
          </a:p>
          <a:p>
            <a:pPr>
              <a:spcAft>
                <a:spcPts val="900"/>
              </a:spcAft>
            </a:pPr>
            <a:r>
              <a:rPr lang="en-GB" sz="1400">
                <a:solidFill>
                  <a:srgbClr val="FFFFFF"/>
                </a:solidFill>
                <a:latin typeface="Century Gothic" panose="020B0502020202020204" pitchFamily="34" charset="0"/>
              </a:rPr>
              <a:t>•  Every significant action remains traceable through route history and audit logs</a:t>
            </a:r>
            <a:endParaRPr lang="en-PH" sz="14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63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719028-F36E-13F7-6796-25FDC432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7A9776-54BA-92A0-1331-7CF221E9F39A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SYSTEM DEMONSTRATION 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A1E767-31B8-F54C-A282-17E6DA94C114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5F553D-3B2C-F309-3BC9-6BD41557D93E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Registration, dashboard, and document routing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89FBBC-64B2-732C-CBA2-505A8A65E8A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87500"/>
            <a:ext cx="3492500" cy="22225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1E5A75-3D6F-41DF-BB5A-6E389CAC777F}"/>
              </a:ext>
            </a:extLst>
          </p:cNvPr>
          <p:cNvSpPr txBox="1"/>
          <p:nvPr/>
        </p:nvSpPr>
        <p:spPr>
          <a:xfrm>
            <a:off x="571500" y="3848100"/>
            <a:ext cx="34925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000">
                <a:solidFill>
                  <a:srgbClr val="DCDCDC"/>
                </a:solidFill>
                <a:latin typeface="Century Gothic" panose="020B0502020202020204" pitchFamily="34" charset="0"/>
              </a:rPr>
              <a:t>Dashboard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3562FE-17CB-C04B-3569-02BBB9C0176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56100" y="1587500"/>
            <a:ext cx="3492500" cy="22225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8C2BB6A-EFF5-8B9E-9FAA-98B56EC74CDC}"/>
              </a:ext>
            </a:extLst>
          </p:cNvPr>
          <p:cNvSpPr txBox="1"/>
          <p:nvPr/>
        </p:nvSpPr>
        <p:spPr>
          <a:xfrm>
            <a:off x="4356100" y="3848100"/>
            <a:ext cx="34925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000">
                <a:solidFill>
                  <a:srgbClr val="DCDCDC"/>
                </a:solidFill>
                <a:latin typeface="Century Gothic" panose="020B0502020202020204" pitchFamily="34" charset="0"/>
              </a:rPr>
              <a:t>Log New Document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A1E05B-7C04-B4A2-D1C2-FDD6E2CBEF4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87500"/>
            <a:ext cx="3492500" cy="22225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F59567-9A20-A362-60EB-E99FAC2C979A}"/>
              </a:ext>
            </a:extLst>
          </p:cNvPr>
          <p:cNvSpPr txBox="1"/>
          <p:nvPr/>
        </p:nvSpPr>
        <p:spPr>
          <a:xfrm>
            <a:off x="8140700" y="3848100"/>
            <a:ext cx="34925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000">
                <a:solidFill>
                  <a:srgbClr val="DCDCDC"/>
                </a:solidFill>
                <a:latin typeface="Century Gothic" panose="020B0502020202020204" pitchFamily="34" charset="0"/>
              </a:rPr>
              <a:t>Details and Routing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2C0966-ED20-F725-E442-3E960399BDDA}"/>
              </a:ext>
            </a:extLst>
          </p:cNvPr>
          <p:cNvSpPr txBox="1"/>
          <p:nvPr/>
        </p:nvSpPr>
        <p:spPr>
          <a:xfrm>
            <a:off x="1143000" y="4445000"/>
            <a:ext cx="9906000" cy="64633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b="1">
                <a:solidFill>
                  <a:srgbClr val="F0C430"/>
                </a:solidFill>
                <a:latin typeface="Century Gothic" panose="020B0502020202020204" pitchFamily="34" charset="0"/>
              </a:rPr>
              <a:t>One permanent tracking number links document metadata, recipient routes, attachments, actions, status changes, and the complete transaction history.</a:t>
            </a:r>
            <a:endParaRPr lang="en-PH" b="1">
              <a:solidFill>
                <a:srgbClr val="F0C43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44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585F7C-8FD2-0F59-6AC1-21F55658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A110F-4B33-61B5-A15B-C4F0BE30B69F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SYSTEM DEMONSTRATION II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57A352-54AE-9081-578D-5B78C9C64CF4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73B3F1-FCD1-A7F3-69DB-BEDFD9DF5579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200">
                <a:solidFill>
                  <a:srgbClr val="DCDCDC"/>
                </a:solidFill>
                <a:latin typeface="Century Gothic" panose="020B0502020202020204" pitchFamily="34" charset="0"/>
              </a:rPr>
              <a:t>Monitoring, reporting, and administration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A32C40-6C86-81BE-DB77-F5A25E46F8A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87500"/>
            <a:ext cx="3492500" cy="22225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025758-8C70-B9C0-B89B-5FA27F4FDC38}"/>
              </a:ext>
            </a:extLst>
          </p:cNvPr>
          <p:cNvSpPr txBox="1"/>
          <p:nvPr/>
        </p:nvSpPr>
        <p:spPr>
          <a:xfrm>
            <a:off x="571500" y="3848100"/>
            <a:ext cx="34925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000">
                <a:solidFill>
                  <a:srgbClr val="DCDCDC"/>
                </a:solidFill>
                <a:latin typeface="Century Gothic" panose="020B0502020202020204" pitchFamily="34" charset="0"/>
              </a:rPr>
              <a:t>Routing Follow-up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498754-236A-47E3-6E85-A3FC0A66E0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56100" y="1587500"/>
            <a:ext cx="3492500" cy="22225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E33B4E-AA2E-22B4-1951-68790C8E7AE1}"/>
              </a:ext>
            </a:extLst>
          </p:cNvPr>
          <p:cNvSpPr txBox="1"/>
          <p:nvPr/>
        </p:nvSpPr>
        <p:spPr>
          <a:xfrm>
            <a:off x="4356100" y="3848100"/>
            <a:ext cx="34925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000">
                <a:solidFill>
                  <a:srgbClr val="DCDCDC"/>
                </a:solidFill>
                <a:latin typeface="Century Gothic" panose="020B0502020202020204" pitchFamily="34" charset="0"/>
              </a:rPr>
              <a:t>Transaction Reports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F64230-BCD2-3CF5-3EB1-2D8A3F32F91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87500"/>
            <a:ext cx="3492500" cy="2222500"/>
          </a:xfrm>
          <a:prstGeom prst="rect">
            <a:avLst/>
          </a:prstGeom>
          <a:ln w="12700">
            <a:solidFill>
              <a:srgbClr val="969696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DB315F-E31E-17CA-460F-33FBC9ABE624}"/>
              </a:ext>
            </a:extLst>
          </p:cNvPr>
          <p:cNvSpPr txBox="1"/>
          <p:nvPr/>
        </p:nvSpPr>
        <p:spPr>
          <a:xfrm>
            <a:off x="8140700" y="3848100"/>
            <a:ext cx="3492500" cy="24622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1000">
                <a:solidFill>
                  <a:srgbClr val="DCDCDC"/>
                </a:solidFill>
                <a:latin typeface="Century Gothic" panose="020B0502020202020204" pitchFamily="34" charset="0"/>
              </a:rPr>
              <a:t>User Accounts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8B4C1C-C722-8370-4E8F-F4D3108F15FF}"/>
              </a:ext>
            </a:extLst>
          </p:cNvPr>
          <p:cNvSpPr txBox="1"/>
          <p:nvPr/>
        </p:nvSpPr>
        <p:spPr>
          <a:xfrm>
            <a:off x="1270000" y="4445000"/>
            <a:ext cx="9652000" cy="64633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b="1">
                <a:solidFill>
                  <a:srgbClr val="F0C430"/>
                </a:solidFill>
                <a:latin typeface="Century Gothic" panose="020B0502020202020204" pitchFamily="34" charset="0"/>
              </a:rPr>
              <a:t>Visibility and actions are controlled by role, account permissions, assignment, and route participation.</a:t>
            </a:r>
            <a:endParaRPr lang="en-PH" b="1">
              <a:solidFill>
                <a:srgbClr val="F0C43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554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274B0D-C4DE-43ED-79D4-CC3E33B5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95588-E29D-F4D1-2F7A-117122033361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ISO/IEC 25010 EVALUATION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8908E-0267-D1AF-99D5-EC49290AB882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97CE99-4D35-3E65-0965-CD258FEB849E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Actual survey administration and analysis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953FCF-8394-5E4B-7417-F2618C24DF7D}"/>
              </a:ext>
            </a:extLst>
          </p:cNvPr>
          <p:cNvSpPr/>
          <p:nvPr/>
        </p:nvSpPr>
        <p:spPr>
          <a:xfrm>
            <a:off x="698500" y="1778000"/>
            <a:ext cx="3302000" cy="24130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15B1A-FA46-3608-9043-6B97997FBB24}"/>
              </a:ext>
            </a:extLst>
          </p:cNvPr>
          <p:cNvSpPr txBox="1"/>
          <p:nvPr/>
        </p:nvSpPr>
        <p:spPr>
          <a:xfrm>
            <a:off x="850900" y="1905000"/>
            <a:ext cx="2997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RESPONDENTS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8E96E-A216-6722-A1F6-3BA7ED49A25D}"/>
              </a:ext>
            </a:extLst>
          </p:cNvPr>
          <p:cNvSpPr txBox="1"/>
          <p:nvPr/>
        </p:nvSpPr>
        <p:spPr>
          <a:xfrm>
            <a:off x="850900" y="2336800"/>
            <a:ext cx="2997200" cy="69249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23 total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13 BLGF employees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10 IT experts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64A251-1D49-53E2-9ABF-2D4006029A2A}"/>
              </a:ext>
            </a:extLst>
          </p:cNvPr>
          <p:cNvSpPr/>
          <p:nvPr/>
        </p:nvSpPr>
        <p:spPr>
          <a:xfrm>
            <a:off x="4445000" y="1778000"/>
            <a:ext cx="3302000" cy="24130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E28CA9-F79F-294F-91DA-850BBFD55C54}"/>
              </a:ext>
            </a:extLst>
          </p:cNvPr>
          <p:cNvSpPr txBox="1"/>
          <p:nvPr/>
        </p:nvSpPr>
        <p:spPr>
          <a:xfrm>
            <a:off x="4597400" y="1905000"/>
            <a:ext cx="2997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INDICATORS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6C95F3-8500-7F56-856F-3FEA3D93E465}"/>
              </a:ext>
            </a:extLst>
          </p:cNvPr>
          <p:cNvSpPr txBox="1"/>
          <p:nvPr/>
        </p:nvSpPr>
        <p:spPr>
          <a:xfrm>
            <a:off x="4597400" y="2336800"/>
            <a:ext cx="2997200" cy="69249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27 actual indicators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8 quality characteristics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5-point Likert scale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BB8F3A-CAFC-B178-F928-F3F6C50DA9B6}"/>
              </a:ext>
            </a:extLst>
          </p:cNvPr>
          <p:cNvSpPr/>
          <p:nvPr/>
        </p:nvSpPr>
        <p:spPr>
          <a:xfrm>
            <a:off x="8191500" y="1778000"/>
            <a:ext cx="3302000" cy="24130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1BFD34-D65D-C85F-3E64-523CAD59546F}"/>
              </a:ext>
            </a:extLst>
          </p:cNvPr>
          <p:cNvSpPr txBox="1"/>
          <p:nvPr/>
        </p:nvSpPr>
        <p:spPr>
          <a:xfrm>
            <a:off x="8343900" y="1905000"/>
            <a:ext cx="29972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INTERPRETATION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39D3C9-3086-E408-540A-C2CC64A9CA8E}"/>
              </a:ext>
            </a:extLst>
          </p:cNvPr>
          <p:cNvSpPr txBox="1"/>
          <p:nvPr/>
        </p:nvSpPr>
        <p:spPr>
          <a:xfrm>
            <a:off x="8343900" y="2336800"/>
            <a:ext cx="2997200" cy="69249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4.21-5.00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VERY GREAT EXTENT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Weighted mean used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378EFD-2A9A-5738-08B0-28AE856DB51E}"/>
              </a:ext>
            </a:extLst>
          </p:cNvPr>
          <p:cNvSpPr txBox="1"/>
          <p:nvPr/>
        </p:nvSpPr>
        <p:spPr>
          <a:xfrm>
            <a:off x="1206500" y="4699000"/>
            <a:ext cx="9779000" cy="58477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1600">
                <a:solidFill>
                  <a:srgbClr val="DCDCDC"/>
                </a:solidFill>
                <a:latin typeface="Century Gothic" panose="020B0502020202020204" pitchFamily="34" charset="0"/>
              </a:rPr>
              <a:t>The reported results correspond to the digital questionnaire actually administered and reproduced in Appendix D.2.</a:t>
            </a:r>
            <a:endParaRPr lang="en-PH" sz="16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561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F4026C-45ED-41C3-99C0-A35E5E32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749C4-D770-9F43-B56E-AF97E4D60392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ISO 25010 CATEGORY 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D87DC0-9EA6-34D5-4083-E26956D3A70F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50BDD-9D48-668E-C685-C5EB2F1D2484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All characteristics were rated to a Very Great Extent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4319F7-7060-EB43-6DC5-68A8F054FD28}"/>
              </a:ext>
            </a:extLst>
          </p:cNvPr>
          <p:cNvSpPr txBox="1"/>
          <p:nvPr/>
        </p:nvSpPr>
        <p:spPr>
          <a:xfrm>
            <a:off x="825500" y="15240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Functional Suitability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BA92E-EB6C-3FD2-641D-3D49D9E7C09B}"/>
              </a:ext>
            </a:extLst>
          </p:cNvPr>
          <p:cNvSpPr/>
          <p:nvPr/>
        </p:nvSpPr>
        <p:spPr>
          <a:xfrm>
            <a:off x="3810000" y="15621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26500-6DEE-A43C-98FC-5D77731F22D4}"/>
              </a:ext>
            </a:extLst>
          </p:cNvPr>
          <p:cNvSpPr/>
          <p:nvPr/>
        </p:nvSpPr>
        <p:spPr>
          <a:xfrm>
            <a:off x="3810000" y="1562100"/>
            <a:ext cx="6324600" cy="2032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BCAFE2-6C28-DCD1-0E37-6CC6945D9B11}"/>
              </a:ext>
            </a:extLst>
          </p:cNvPr>
          <p:cNvSpPr txBox="1"/>
          <p:nvPr/>
        </p:nvSpPr>
        <p:spPr>
          <a:xfrm>
            <a:off x="10350500" y="14986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4.98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A102B3-C289-8214-B9CB-5BBBD507D30A}"/>
              </a:ext>
            </a:extLst>
          </p:cNvPr>
          <p:cNvSpPr txBox="1"/>
          <p:nvPr/>
        </p:nvSpPr>
        <p:spPr>
          <a:xfrm>
            <a:off x="825500" y="20701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Reliability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6C566E-5A26-6E8B-2590-FC3B932F38EB}"/>
              </a:ext>
            </a:extLst>
          </p:cNvPr>
          <p:cNvSpPr/>
          <p:nvPr/>
        </p:nvSpPr>
        <p:spPr>
          <a:xfrm>
            <a:off x="3810000" y="21082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23E5E3-5969-7EAD-3122-8037CAF6AD3C}"/>
              </a:ext>
            </a:extLst>
          </p:cNvPr>
          <p:cNvSpPr/>
          <p:nvPr/>
        </p:nvSpPr>
        <p:spPr>
          <a:xfrm>
            <a:off x="3810000" y="2108200"/>
            <a:ext cx="6311900" cy="2032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60C67-E239-F6B0-BD22-7BD4690D51AE}"/>
              </a:ext>
            </a:extLst>
          </p:cNvPr>
          <p:cNvSpPr txBox="1"/>
          <p:nvPr/>
        </p:nvSpPr>
        <p:spPr>
          <a:xfrm>
            <a:off x="10350500" y="20447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4.97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61E9E8-F721-F90E-28D0-6D0BE6E7992C}"/>
              </a:ext>
            </a:extLst>
          </p:cNvPr>
          <p:cNvSpPr txBox="1"/>
          <p:nvPr/>
        </p:nvSpPr>
        <p:spPr>
          <a:xfrm>
            <a:off x="825500" y="26162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Usability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0BAE86-F9E5-A956-B2A7-28FC1AFF9FB2}"/>
              </a:ext>
            </a:extLst>
          </p:cNvPr>
          <p:cNvSpPr/>
          <p:nvPr/>
        </p:nvSpPr>
        <p:spPr>
          <a:xfrm>
            <a:off x="3810000" y="26543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52B0DB-41F3-32AE-D4C3-739D3184AA0F}"/>
              </a:ext>
            </a:extLst>
          </p:cNvPr>
          <p:cNvSpPr/>
          <p:nvPr/>
        </p:nvSpPr>
        <p:spPr>
          <a:xfrm>
            <a:off x="3810000" y="2654300"/>
            <a:ext cx="6324600" cy="2032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A14820-65F3-25B3-A7EA-F64DF8B8F293}"/>
              </a:ext>
            </a:extLst>
          </p:cNvPr>
          <p:cNvSpPr txBox="1"/>
          <p:nvPr/>
        </p:nvSpPr>
        <p:spPr>
          <a:xfrm>
            <a:off x="10350500" y="25908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4.98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2DC59-0BB8-EC3E-8097-D368FDFF2B4B}"/>
              </a:ext>
            </a:extLst>
          </p:cNvPr>
          <p:cNvSpPr txBox="1"/>
          <p:nvPr/>
        </p:nvSpPr>
        <p:spPr>
          <a:xfrm>
            <a:off x="825500" y="31623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Performance Efficiency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AD4FFD-396D-C71D-42C4-7B550FB2C224}"/>
              </a:ext>
            </a:extLst>
          </p:cNvPr>
          <p:cNvSpPr/>
          <p:nvPr/>
        </p:nvSpPr>
        <p:spPr>
          <a:xfrm>
            <a:off x="3810000" y="32004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1AA847-E9D3-6A49-98D5-750050CB6308}"/>
              </a:ext>
            </a:extLst>
          </p:cNvPr>
          <p:cNvSpPr/>
          <p:nvPr/>
        </p:nvSpPr>
        <p:spPr>
          <a:xfrm>
            <a:off x="3810000" y="3200400"/>
            <a:ext cx="6299200" cy="2032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929B7A-27C4-2596-DDE5-A8B37F434C62}"/>
              </a:ext>
            </a:extLst>
          </p:cNvPr>
          <p:cNvSpPr txBox="1"/>
          <p:nvPr/>
        </p:nvSpPr>
        <p:spPr>
          <a:xfrm>
            <a:off x="10350500" y="31369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4.96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52430E-31A1-F0A5-E5C4-3D786C8335DB}"/>
              </a:ext>
            </a:extLst>
          </p:cNvPr>
          <p:cNvSpPr txBox="1"/>
          <p:nvPr/>
        </p:nvSpPr>
        <p:spPr>
          <a:xfrm>
            <a:off x="825500" y="37084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Compatibility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0A09E-A128-1C5C-01D9-BBAE4B191C2E}"/>
              </a:ext>
            </a:extLst>
          </p:cNvPr>
          <p:cNvSpPr/>
          <p:nvPr/>
        </p:nvSpPr>
        <p:spPr>
          <a:xfrm>
            <a:off x="3810000" y="37465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A1668B-57E9-D42B-1F87-F6F8391662F6}"/>
              </a:ext>
            </a:extLst>
          </p:cNvPr>
          <p:cNvSpPr/>
          <p:nvPr/>
        </p:nvSpPr>
        <p:spPr>
          <a:xfrm>
            <a:off x="3810000" y="3746500"/>
            <a:ext cx="6299200" cy="2032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B2B596-3EDD-72E1-E7F0-ED58A0793C30}"/>
              </a:ext>
            </a:extLst>
          </p:cNvPr>
          <p:cNvSpPr txBox="1"/>
          <p:nvPr/>
        </p:nvSpPr>
        <p:spPr>
          <a:xfrm>
            <a:off x="10350500" y="36830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4.96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EECD9B-B3FA-1838-6F4A-4A26163ECAB3}"/>
              </a:ext>
            </a:extLst>
          </p:cNvPr>
          <p:cNvSpPr txBox="1"/>
          <p:nvPr/>
        </p:nvSpPr>
        <p:spPr>
          <a:xfrm>
            <a:off x="825500" y="42545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Security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1D70A7-0F49-86B2-CB8F-2C37F0FC6B25}"/>
              </a:ext>
            </a:extLst>
          </p:cNvPr>
          <p:cNvSpPr/>
          <p:nvPr/>
        </p:nvSpPr>
        <p:spPr>
          <a:xfrm>
            <a:off x="3810000" y="42926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7BB91B6-B043-0EF8-2A7D-358B295EA4B7}"/>
              </a:ext>
            </a:extLst>
          </p:cNvPr>
          <p:cNvSpPr/>
          <p:nvPr/>
        </p:nvSpPr>
        <p:spPr>
          <a:xfrm>
            <a:off x="3810000" y="4292600"/>
            <a:ext cx="6261100" cy="2032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D762B8-30C4-D773-11C9-297D2E33744D}"/>
              </a:ext>
            </a:extLst>
          </p:cNvPr>
          <p:cNvSpPr txBox="1"/>
          <p:nvPr/>
        </p:nvSpPr>
        <p:spPr>
          <a:xfrm>
            <a:off x="10350500" y="42291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4.93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C5B52-6045-9D3D-DE94-51F445062564}"/>
              </a:ext>
            </a:extLst>
          </p:cNvPr>
          <p:cNvSpPr txBox="1"/>
          <p:nvPr/>
        </p:nvSpPr>
        <p:spPr>
          <a:xfrm>
            <a:off x="825500" y="48006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Maintainability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E71B7BD-D57F-6B8A-1833-F24CE4583806}"/>
              </a:ext>
            </a:extLst>
          </p:cNvPr>
          <p:cNvSpPr/>
          <p:nvPr/>
        </p:nvSpPr>
        <p:spPr>
          <a:xfrm>
            <a:off x="3810000" y="48387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6C7E52-1B9F-0EF6-5115-7740EF7A33D7}"/>
              </a:ext>
            </a:extLst>
          </p:cNvPr>
          <p:cNvSpPr/>
          <p:nvPr/>
        </p:nvSpPr>
        <p:spPr>
          <a:xfrm>
            <a:off x="3810000" y="4838700"/>
            <a:ext cx="6350000" cy="203200"/>
          </a:xfrm>
          <a:prstGeom prst="rect">
            <a:avLst/>
          </a:prstGeom>
          <a:solidFill>
            <a:srgbClr val="F0C430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DA5EA4-87DB-C133-6EBB-5D0AA8C3965F}"/>
              </a:ext>
            </a:extLst>
          </p:cNvPr>
          <p:cNvSpPr txBox="1"/>
          <p:nvPr/>
        </p:nvSpPr>
        <p:spPr>
          <a:xfrm>
            <a:off x="10350500" y="47752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5.00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CA921F-7CC3-4F60-55C8-76D4F1919701}"/>
              </a:ext>
            </a:extLst>
          </p:cNvPr>
          <p:cNvSpPr txBox="1"/>
          <p:nvPr/>
        </p:nvSpPr>
        <p:spPr>
          <a:xfrm>
            <a:off x="825500" y="5346700"/>
            <a:ext cx="2921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>
                <a:solidFill>
                  <a:srgbClr val="FFFFFF"/>
                </a:solidFill>
                <a:latin typeface="Century Gothic" panose="020B0502020202020204" pitchFamily="34" charset="0"/>
              </a:rPr>
              <a:t>Portability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B2701D-C3A4-263C-28D7-02E21540E677}"/>
              </a:ext>
            </a:extLst>
          </p:cNvPr>
          <p:cNvSpPr/>
          <p:nvPr/>
        </p:nvSpPr>
        <p:spPr>
          <a:xfrm>
            <a:off x="3810000" y="5384800"/>
            <a:ext cx="6350000" cy="203200"/>
          </a:xfrm>
          <a:prstGeom prst="rect">
            <a:avLst/>
          </a:prstGeom>
          <a:solidFill>
            <a:srgbClr val="464646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ECF955-6886-89FB-F266-CE7C87DAD2FB}"/>
              </a:ext>
            </a:extLst>
          </p:cNvPr>
          <p:cNvSpPr/>
          <p:nvPr/>
        </p:nvSpPr>
        <p:spPr>
          <a:xfrm>
            <a:off x="3810000" y="5384800"/>
            <a:ext cx="6311900" cy="2032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576232-6598-A3A9-AB64-E1E65A99546A}"/>
              </a:ext>
            </a:extLst>
          </p:cNvPr>
          <p:cNvSpPr txBox="1"/>
          <p:nvPr/>
        </p:nvSpPr>
        <p:spPr>
          <a:xfrm>
            <a:off x="10350500" y="5321300"/>
            <a:ext cx="889000" cy="29238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300" b="1">
                <a:solidFill>
                  <a:srgbClr val="F0C430"/>
                </a:solidFill>
                <a:latin typeface="Century Gothic" panose="020B0502020202020204" pitchFamily="34" charset="0"/>
              </a:rPr>
              <a:t>4.97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2406D0-707D-DF28-B32F-593860893BC2}"/>
              </a:ext>
            </a:extLst>
          </p:cNvPr>
          <p:cNvSpPr txBox="1"/>
          <p:nvPr/>
        </p:nvSpPr>
        <p:spPr>
          <a:xfrm>
            <a:off x="2794000" y="5905500"/>
            <a:ext cx="6604000" cy="43088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2200" b="1">
                <a:solidFill>
                  <a:srgbClr val="F0C430"/>
                </a:solidFill>
                <a:latin typeface="Century Gothic" panose="020B0502020202020204" pitchFamily="34" charset="0"/>
              </a:rPr>
              <a:t>GRAND MEAN: 4.97 - VERY GREAT EXTENT</a:t>
            </a:r>
            <a:endParaRPr lang="en-PH" sz="2200" b="1">
              <a:solidFill>
                <a:srgbClr val="F0C43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171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6617DD-F03B-236F-8055-6A420EDD2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C2810-916E-08FF-F02E-1ED2F1BF7736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INDIVIDUAL INDICATOR HIGHLIGHTS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A31E88-37E2-19AA-ADD0-C17DB9C9042A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D4A512-36FA-EF28-FC50-ECEE1CC53BDE}"/>
              </a:ext>
            </a:extLst>
          </p:cNvPr>
          <p:cNvSpPr txBox="1"/>
          <p:nvPr/>
        </p:nvSpPr>
        <p:spPr>
          <a:xfrm>
            <a:off x="2349500" y="977900"/>
            <a:ext cx="9017000" cy="27699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200">
                <a:solidFill>
                  <a:srgbClr val="DCDCDC"/>
                </a:solidFill>
                <a:latin typeface="Century Gothic" panose="020B0502020202020204" pitchFamily="34" charset="0"/>
              </a:rPr>
              <a:t>Chapter IV reports each indicator, not only the summary</a:t>
            </a:r>
            <a:endParaRPr lang="en-PH" sz="12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ECE5A4-B2EE-1AA8-1E07-04F0687FF1BB}"/>
              </a:ext>
            </a:extLst>
          </p:cNvPr>
          <p:cNvSpPr/>
          <p:nvPr/>
        </p:nvSpPr>
        <p:spPr>
          <a:xfrm>
            <a:off x="698500" y="1524000"/>
            <a:ext cx="5270500" cy="3873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08DC0-9D3A-A4E4-377B-5A7ECB3C67EF}"/>
              </a:ext>
            </a:extLst>
          </p:cNvPr>
          <p:cNvSpPr txBox="1"/>
          <p:nvPr/>
        </p:nvSpPr>
        <p:spPr>
          <a:xfrm>
            <a:off x="850900" y="1651000"/>
            <a:ext cx="4965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PERFECT MEANS - 5.00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E0581D-9454-6724-EF95-10CAA32C55C9}"/>
              </a:ext>
            </a:extLst>
          </p:cNvPr>
          <p:cNvSpPr txBox="1"/>
          <p:nvPr/>
        </p:nvSpPr>
        <p:spPr>
          <a:xfrm>
            <a:off x="850900" y="2082800"/>
            <a:ext cx="4965700" cy="169277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Required document-management functions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Workflow-task support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Data and transaction-history preservation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Documentation sufficiency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Straightforward task completion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Expected workload capacity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Role-based restriction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All four maintainability indicators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E0DF11-D75B-38C6-FCA5-AAC691CDA7AD}"/>
              </a:ext>
            </a:extLst>
          </p:cNvPr>
          <p:cNvSpPr/>
          <p:nvPr/>
        </p:nvSpPr>
        <p:spPr>
          <a:xfrm>
            <a:off x="6350000" y="1524000"/>
            <a:ext cx="5143500" cy="3873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13A521-9009-37BA-E91F-C29F75C6FA97}"/>
              </a:ext>
            </a:extLst>
          </p:cNvPr>
          <p:cNvSpPr txBox="1"/>
          <p:nvPr/>
        </p:nvSpPr>
        <p:spPr>
          <a:xfrm>
            <a:off x="6502400" y="1651000"/>
            <a:ext cx="4838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IMPROVEMENT PRIORITIES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ACEFE-B7BC-F663-F87B-0F40216FA331}"/>
              </a:ext>
            </a:extLst>
          </p:cNvPr>
          <p:cNvSpPr txBox="1"/>
          <p:nvPr/>
        </p:nvSpPr>
        <p:spPr>
          <a:xfrm>
            <a:off x="6502400" y="2082800"/>
            <a:ext cx="4838700" cy="12926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Protection from unauthorized access/modification - 4.87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Efficient computing/network resource use - 4.91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Module information exchange - 4.91</a:t>
            </a: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Installation/deployment procedures - 4.91</a:t>
            </a:r>
          </a:p>
          <a:p>
            <a:endParaRPr lang="en-GB" sz="130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All remained within Very Great Extent.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180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0BBC3F-65BB-7AB2-5E00-119C0C80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182CA-04B1-BF8B-76B0-FA2F1D9AF6EF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SUMMARY OF FINDINGS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A31B24-6A61-B006-D02F-220359098FE9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30003-AC7F-40A8-58A5-44B39C831223}"/>
              </a:ext>
            </a:extLst>
          </p:cNvPr>
          <p:cNvSpPr txBox="1"/>
          <p:nvPr/>
        </p:nvSpPr>
        <p:spPr>
          <a:xfrm>
            <a:off x="889000" y="1587500"/>
            <a:ext cx="10414000" cy="286232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The existing manual workflow was vulnerable to delays, incomplete visibility, misplaced records, and weak traceability.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The developed WDTMP provides end-to-end registration, routing, monitoring, retrieval, reporting, and auditing.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All 27 indicators and all eight ISO/IEC 25010 characteristics were rated to a Very Great Extent.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The overall evaluation produced a grand mean of 4.97; maintainability ranked highest at 5.00.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Security remained highly rated at 4.93 but should receive continued review and strengthening.</a:t>
            </a:r>
            <a:endParaRPr lang="en-PH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97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359115-FDC5-A0AB-86BF-D032BE71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3DDE8-35B6-F5F9-D35A-6A1BC3FC158D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CONCLUSIONS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254DC8-E3D0-1BDF-E919-7D4FB3983FEC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B8008-DEA0-C438-3871-0A1DC1E5B93B}"/>
              </a:ext>
            </a:extLst>
          </p:cNvPr>
          <p:cNvSpPr txBox="1"/>
          <p:nvPr/>
        </p:nvSpPr>
        <p:spPr>
          <a:xfrm>
            <a:off x="1079500" y="1714500"/>
            <a:ext cx="10033000" cy="10618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2100">
                <a:solidFill>
                  <a:srgbClr val="FFFFFF"/>
                </a:solidFill>
                <a:latin typeface="Century Gothic" panose="020B0502020202020204" pitchFamily="34" charset="0"/>
              </a:rPr>
              <a:t>The developed WDTMP addressed the identified workflow problems by consolidating document transactions into a secure, searchable, role-controlled, and auditable platform.</a:t>
            </a:r>
            <a:endParaRPr lang="en-PH" sz="21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1C5E1-5D25-29FF-0C97-536A0209F47E}"/>
              </a:ext>
            </a:extLst>
          </p:cNvPr>
          <p:cNvSpPr txBox="1"/>
          <p:nvPr/>
        </p:nvSpPr>
        <p:spPr>
          <a:xfrm>
            <a:off x="1079500" y="3238500"/>
            <a:ext cx="10033000" cy="76944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2200" b="1">
                <a:solidFill>
                  <a:srgbClr val="F0C430"/>
                </a:solidFill>
                <a:latin typeface="Century Gothic" panose="020B0502020202020204" pitchFamily="34" charset="0"/>
              </a:rPr>
              <a:t>The 4.97 grand mean confirms that the system satisfies the evaluated ISO/IEC 25010 quality requirements to a Very Great Extent.</a:t>
            </a:r>
            <a:endParaRPr lang="en-PH" sz="2200" b="1">
              <a:solidFill>
                <a:srgbClr val="F0C430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CE3D1-1A14-88B5-AA0D-7998F75E2859}"/>
              </a:ext>
            </a:extLst>
          </p:cNvPr>
          <p:cNvSpPr txBox="1"/>
          <p:nvPr/>
        </p:nvSpPr>
        <p:spPr>
          <a:xfrm>
            <a:off x="1333500" y="4572000"/>
            <a:ext cx="9525000" cy="61555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GB" sz="1700">
                <a:solidFill>
                  <a:srgbClr val="DCDCDC"/>
                </a:solidFill>
                <a:latin typeface="Century Gothic" panose="020B0502020202020204" pitchFamily="34" charset="0"/>
              </a:rPr>
              <a:t>The platform is suitable for controlled operational adoption at BLGF Region II, subject to institutional approval, deployment preparation, and user training.</a:t>
            </a:r>
            <a:endParaRPr lang="en-PH" sz="1700">
              <a:solidFill>
                <a:srgbClr val="DCDCDC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068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0DCB806-0B60-B2FD-2222-FE94F28A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EB3B8-B6E1-7CF3-94E5-C524638E0B3E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RECOMMENDATIONS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8F5F47-A379-2FE4-80D0-5376328333B0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A4F732-A001-7D92-BE29-749AEB7CEA7A}"/>
              </a:ext>
            </a:extLst>
          </p:cNvPr>
          <p:cNvSpPr txBox="1"/>
          <p:nvPr/>
        </p:nvSpPr>
        <p:spPr>
          <a:xfrm>
            <a:off x="952500" y="1587500"/>
            <a:ext cx="10287000" cy="230832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Conduct controlled deployment with user orientation, role assignment, and documented operating procedures.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Continue security testing, access reviews, backup verification, and audit-log monitoring.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Maintain updated deployment documentation and monitor computing/network performance.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Perform periodic user evaluation and incorporate approved workflow improvements.</a:t>
            </a:r>
          </a:p>
          <a:p>
            <a:pPr>
              <a:spcAft>
                <a:spcPts val="900"/>
              </a:spcAft>
            </a:pPr>
            <a:r>
              <a:rPr lang="en-GB">
                <a:solidFill>
                  <a:srgbClr val="FFFFFF"/>
                </a:solidFill>
                <a:latin typeface="Century Gothic" panose="020B0502020202020204" pitchFamily="34" charset="0"/>
              </a:rPr>
              <a:t>•  Consider future integrations only after privacy, interoperability, and institutional requirements are validated.</a:t>
            </a:r>
            <a:endParaRPr lang="en-PH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176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297C69-8893-FECA-24B0-44DB22B7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DB0025-3ADB-DC12-551C-77A814804ECD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EXECUTIVE SUMMARY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55122F-9AE6-D8C0-6629-11E5B59D4EFB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925647-376E-BB04-5362-13B65C1C2CF2}"/>
              </a:ext>
            </a:extLst>
          </p:cNvPr>
          <p:cNvSpPr/>
          <p:nvPr/>
        </p:nvSpPr>
        <p:spPr>
          <a:xfrm>
            <a:off x="571500" y="1587500"/>
            <a:ext cx="2603500" cy="3111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21EA0-C242-BC25-8D03-49B57FB3D8EE}"/>
              </a:ext>
            </a:extLst>
          </p:cNvPr>
          <p:cNvSpPr txBox="1"/>
          <p:nvPr/>
        </p:nvSpPr>
        <p:spPr>
          <a:xfrm>
            <a:off x="723900" y="1714500"/>
            <a:ext cx="2298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D3B35-FFCC-D2F1-0D7E-56FC98F671B9}"/>
              </a:ext>
            </a:extLst>
          </p:cNvPr>
          <p:cNvSpPr txBox="1"/>
          <p:nvPr/>
        </p:nvSpPr>
        <p:spPr>
          <a:xfrm>
            <a:off x="723900" y="2146300"/>
            <a:ext cx="2298700" cy="89255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Manual routing caused delays, limited visibility, record risks, and weak accountability.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80DAFB-244B-8FBB-DA36-3E308DC4205F}"/>
              </a:ext>
            </a:extLst>
          </p:cNvPr>
          <p:cNvSpPr/>
          <p:nvPr/>
        </p:nvSpPr>
        <p:spPr>
          <a:xfrm>
            <a:off x="3390900" y="1587500"/>
            <a:ext cx="2603500" cy="3111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23C35-7315-E604-C4DD-ACE64CA2457E}"/>
              </a:ext>
            </a:extLst>
          </p:cNvPr>
          <p:cNvSpPr txBox="1"/>
          <p:nvPr/>
        </p:nvSpPr>
        <p:spPr>
          <a:xfrm>
            <a:off x="3543300" y="1714500"/>
            <a:ext cx="2298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758D66-6805-89D5-BB43-F1D2678457ED}"/>
              </a:ext>
            </a:extLst>
          </p:cNvPr>
          <p:cNvSpPr txBox="1"/>
          <p:nvPr/>
        </p:nvSpPr>
        <p:spPr>
          <a:xfrm>
            <a:off x="3543300" y="2146300"/>
            <a:ext cx="2298700" cy="10926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WDTMP centralizes registration, routing, tracking, search, reporting, permissions, and audit trails.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72B2C5-A255-4989-1358-6120304A6A99}"/>
              </a:ext>
            </a:extLst>
          </p:cNvPr>
          <p:cNvSpPr/>
          <p:nvPr/>
        </p:nvSpPr>
        <p:spPr>
          <a:xfrm>
            <a:off x="6210300" y="1587500"/>
            <a:ext cx="2603500" cy="3111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609197-C823-EB3F-F38A-1620B55B90F9}"/>
              </a:ext>
            </a:extLst>
          </p:cNvPr>
          <p:cNvSpPr txBox="1"/>
          <p:nvPr/>
        </p:nvSpPr>
        <p:spPr>
          <a:xfrm>
            <a:off x="6362700" y="1714500"/>
            <a:ext cx="2298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EVALUATION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E5B5F-2D43-9EB8-70F5-DA7AFA7EF9E7}"/>
              </a:ext>
            </a:extLst>
          </p:cNvPr>
          <p:cNvSpPr txBox="1"/>
          <p:nvPr/>
        </p:nvSpPr>
        <p:spPr>
          <a:xfrm>
            <a:off x="6362700" y="2146300"/>
            <a:ext cx="2298700" cy="89255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23 respondents rated 27 indicators. Grand mean: 4.97, interpreted as Very Great Extent.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AAB7A33-A975-2C1D-33F9-E976754608D1}"/>
              </a:ext>
            </a:extLst>
          </p:cNvPr>
          <p:cNvSpPr/>
          <p:nvPr/>
        </p:nvSpPr>
        <p:spPr>
          <a:xfrm>
            <a:off x="9029700" y="1587500"/>
            <a:ext cx="2603500" cy="3111500"/>
          </a:xfrm>
          <a:prstGeom prst="roundRect">
            <a:avLst/>
          </a:prstGeom>
          <a:solidFill>
            <a:srgbClr val="232323">
              <a:alpha val="88000"/>
            </a:srgb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25BD04-25A8-BE83-DD15-C46FAF0FB5F2}"/>
              </a:ext>
            </a:extLst>
          </p:cNvPr>
          <p:cNvSpPr txBox="1"/>
          <p:nvPr/>
        </p:nvSpPr>
        <p:spPr>
          <a:xfrm>
            <a:off x="9182100" y="1714500"/>
            <a:ext cx="2298700" cy="35394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1700" b="1">
                <a:solidFill>
                  <a:srgbClr val="F0C430"/>
                </a:solidFill>
                <a:latin typeface="Century Gothic" panose="020B0502020202020204" pitchFamily="34" charset="0"/>
              </a:rPr>
              <a:t>DIRECTION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A1854A-A988-C79B-1FDB-0090D59A6076}"/>
              </a:ext>
            </a:extLst>
          </p:cNvPr>
          <p:cNvSpPr txBox="1"/>
          <p:nvPr/>
        </p:nvSpPr>
        <p:spPr>
          <a:xfrm>
            <a:off x="9182100" y="2146300"/>
            <a:ext cx="2298700" cy="10926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GB" sz="1300">
                <a:solidFill>
                  <a:srgbClr val="FFFFFF"/>
                </a:solidFill>
                <a:latin typeface="Century Gothic" panose="020B0502020202020204" pitchFamily="34" charset="0"/>
              </a:rPr>
              <a:t>Proceed with controlled adoption while strengthening security, deployment guidance, and monitoring.</a:t>
            </a:r>
            <a:endParaRPr lang="en-PH" sz="130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573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4CDA76-187F-7B17-27D2-0ACA55D05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7D149-A060-468F-DDB5-E7D6AA5027B8}"/>
              </a:ext>
            </a:extLst>
          </p:cNvPr>
          <p:cNvSpPr txBox="1"/>
          <p:nvPr/>
        </p:nvSpPr>
        <p:spPr>
          <a:xfrm>
            <a:off x="698500" y="355600"/>
            <a:ext cx="10668000" cy="52322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PH" sz="2800" b="1">
                <a:solidFill>
                  <a:srgbClr val="F0C430"/>
                </a:solidFill>
                <a:latin typeface="Century Gothic" panose="020B0502020202020204" pitchFamily="34" charset="0"/>
              </a:rPr>
              <a:t>THANK YOU!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5F9ADF-62C7-9589-0198-CD8FE2C5EC12}"/>
              </a:ext>
            </a:extLst>
          </p:cNvPr>
          <p:cNvSpPr/>
          <p:nvPr/>
        </p:nvSpPr>
        <p:spPr>
          <a:xfrm>
            <a:off x="698500" y="1117600"/>
            <a:ext cx="1460500" cy="50800"/>
          </a:xfrm>
          <a:prstGeom prst="rect">
            <a:avLst/>
          </a:prstGeom>
          <a:solidFill>
            <a:srgbClr val="AD300E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33F394-455A-17F6-38F9-E516602F0649}"/>
              </a:ext>
            </a:extLst>
          </p:cNvPr>
          <p:cNvSpPr txBox="1"/>
          <p:nvPr/>
        </p:nvSpPr>
        <p:spPr>
          <a:xfrm>
            <a:off x="2095500" y="2603500"/>
            <a:ext cx="8001000" cy="61555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sz="3400" b="1">
                <a:solidFill>
                  <a:srgbClr val="FFFFFF"/>
                </a:solidFill>
                <a:latin typeface="Century Gothic" panose="020B0502020202020204" pitchFamily="34" charset="0"/>
              </a:rPr>
              <a:t>QUESTIONS AND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07D78-C812-58ED-949B-5B3A0F79135A}"/>
              </a:ext>
            </a:extLst>
          </p:cNvPr>
          <p:cNvSpPr txBox="1"/>
          <p:nvPr/>
        </p:nvSpPr>
        <p:spPr>
          <a:xfrm>
            <a:off x="3302000" y="3873500"/>
            <a:ext cx="5588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ctr"/>
            <a:r>
              <a:rPr lang="en-PH" b="1">
                <a:solidFill>
                  <a:srgbClr val="F0C430"/>
                </a:solidFill>
                <a:latin typeface="Century Gothic" panose="020B0502020202020204" pitchFamily="34" charset="0"/>
              </a:rPr>
              <a:t>TOM TOM G. CATRAL</a:t>
            </a:r>
          </a:p>
        </p:txBody>
      </p:sp>
    </p:spTree>
    <p:extLst>
      <p:ext uri="{BB962C8B-B14F-4D97-AF65-F5344CB8AC3E}">
        <p14:creationId xmlns:p14="http://schemas.microsoft.com/office/powerpoint/2010/main" val="5933792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311</TotalTime>
  <Words>1036</Words>
  <Application>Microsoft Office PowerPoint</Application>
  <PresentationFormat>Widescreen</PresentationFormat>
  <Paragraphs>164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Calibri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FISCAL ADMMINISTRATION</dc:title>
  <dc:creator>Admin</dc:creator>
  <cp:lastModifiedBy>Aldwin Chester Guzman</cp:lastModifiedBy>
  <cp:revision>129</cp:revision>
  <cp:lastPrinted>2023-06-15T02:28:30Z</cp:lastPrinted>
  <dcterms:created xsi:type="dcterms:W3CDTF">2019-11-26T10:23:24Z</dcterms:created>
  <dcterms:modified xsi:type="dcterms:W3CDTF">2026-10-15T02:44:56Z</dcterms:modified>
</cp:coreProperties>
</file>